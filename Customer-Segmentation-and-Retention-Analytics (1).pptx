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unnel Sans" panose="020B0604020202020204" charset="0"/>
      <p:regular r:id="rId13"/>
    </p:embeddedFont>
    <p:embeddedFont>
      <p:font typeface="Mona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532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603504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247" y="564475"/>
            <a:ext cx="4733687" cy="7100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Customer Segmentation &amp; Retention Analytics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Power BI Dashboard Project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Juvvadi Tanvitha · MBA / Data Analytics Student · Guided by: Umesh Yadav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603504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247" y="564475"/>
            <a:ext cx="4733687" cy="7100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672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1816179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310" y="181617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1142524" y="20734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Customer Churn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256389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Businesses struggle with customer retention and churn, leading to significant revenue loss.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3773805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3310" y="377380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14252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Lack of Insights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42524" y="4521517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Organizations lack clear visibility into high-value customers and at-risk customer segments.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731431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3310" y="5731431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142524" y="5988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Data-Driven Need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142524" y="647914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There is a critical need for a data-driven solution to guide retention strategy.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640794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3378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Segment customers based on behavior and value.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203496"/>
            <a:ext cx="6408063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377803"/>
            <a:ext cx="37558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Retention &amp; Churn Analysis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86822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Analyze retention and churn rates across segments.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62795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83004"/>
            <a:ext cx="640794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157311"/>
            <a:ext cx="29878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Revenue Contribution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647730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Identify revenue contribution by customer segments.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62795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983004"/>
            <a:ext cx="6408063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1573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Actionable Insights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64773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Provide actionable business insights to support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603504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9315" y="523875"/>
            <a:ext cx="4787741" cy="71817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2930" y="509230"/>
            <a:ext cx="4201120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Tools &amp; Technologies</a:t>
            </a:r>
            <a:endParaRPr lang="en-US" sz="3250" dirty="0"/>
          </a:p>
        </p:txBody>
      </p:sp>
      <p:sp>
        <p:nvSpPr>
          <p:cNvPr id="5" name="Shape 2"/>
          <p:cNvSpPr/>
          <p:nvPr/>
        </p:nvSpPr>
        <p:spPr>
          <a:xfrm>
            <a:off x="582930" y="1213247"/>
            <a:ext cx="7978140" cy="1535073"/>
          </a:xfrm>
          <a:prstGeom prst="roundRect">
            <a:avLst>
              <a:gd name="adj" fmla="val 4558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7118" y="138743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517" y="1524833"/>
            <a:ext cx="224790" cy="224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7118" y="200941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Power BI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57118" y="2343031"/>
            <a:ext cx="762976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dashboards and reporting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82930" y="2870597"/>
            <a:ext cx="7978140" cy="1535073"/>
          </a:xfrm>
          <a:prstGeom prst="roundRect">
            <a:avLst>
              <a:gd name="adj" fmla="val 4558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57118" y="304478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517" y="3182183"/>
            <a:ext cx="224790" cy="2247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7118" y="366676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DAX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57118" y="4000381"/>
            <a:ext cx="762976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 measures and calculations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82930" y="4527947"/>
            <a:ext cx="7978140" cy="1535073"/>
          </a:xfrm>
          <a:prstGeom prst="roundRect">
            <a:avLst>
              <a:gd name="adj" fmla="val 4558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57118" y="470213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FFFF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4517" y="4839533"/>
            <a:ext cx="224790" cy="2247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7118" y="532411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57118" y="5657731"/>
            <a:ext cx="762976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Relational data structure design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82930" y="6185297"/>
            <a:ext cx="7978140" cy="1535073"/>
          </a:xfrm>
          <a:prstGeom prst="roundRect">
            <a:avLst>
              <a:gd name="adj" fmla="val 4558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57118" y="635948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FFFF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4517" y="6496883"/>
            <a:ext cx="224790" cy="22479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7118" y="698146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57118" y="7315081"/>
            <a:ext cx="762976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Charts, graphs, and visual storytelling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0076"/>
            <a:ext cx="5470207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Dashboard Overview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1826657"/>
            <a:ext cx="8341519" cy="5560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228" y="189571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KPI Cards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33228" y="2439472"/>
            <a:ext cx="4248150" cy="156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Total Customers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Total Revenue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Retention %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Churn %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33228" y="4212669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Visuals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633228" y="4756428"/>
            <a:ext cx="4248150" cy="115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Segment comparison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analysis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Retention distribution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33228" y="611981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Interactivity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33228" y="6663571"/>
            <a:ext cx="4248150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slicers for filtering by segment, gender, and time period.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8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Metrics (KPIs)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93595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6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Core KPIs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15809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Tracked across the dashboard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093595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100%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Customer Coverage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615809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segments monitored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545687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55774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Customer States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06790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Retained vs. Churned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4545687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55774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Segment Types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06790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Champions, At-Risk, Repeat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6859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KPIs tracked include Total Customers, Total Revenue, Retention Rate, Churn Rate, Repeat Customers, and At-Risk Customers percentage.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2" y="543044"/>
            <a:ext cx="4762262" cy="7143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68628" y="592693"/>
            <a:ext cx="487322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Insights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168628" y="1453039"/>
            <a:ext cx="7779544" cy="1420416"/>
          </a:xfrm>
          <a:prstGeom prst="roundRect">
            <a:avLst>
              <a:gd name="adj" fmla="val 7725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45768" y="1453039"/>
            <a:ext cx="91440" cy="1420416"/>
          </a:xfrm>
          <a:prstGeom prst="roundRect">
            <a:avLst>
              <a:gd name="adj" fmla="val 89535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454973" y="1670804"/>
            <a:ext cx="3071932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Champions Lead Revenue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54973" y="2075855"/>
            <a:ext cx="727543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Champions segment contributes the highest revenue across all customer groups.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68628" y="3040856"/>
            <a:ext cx="7779544" cy="1420416"/>
          </a:xfrm>
          <a:prstGeom prst="roundRect">
            <a:avLst>
              <a:gd name="adj" fmla="val 7725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45768" y="3040856"/>
            <a:ext cx="91440" cy="1420416"/>
          </a:xfrm>
          <a:prstGeom prst="roundRect">
            <a:avLst>
              <a:gd name="adj" fmla="val 89535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454973" y="3258622"/>
            <a:ext cx="267700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Noticeable Churn Rate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54973" y="3663672"/>
            <a:ext cx="727543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noticeable customer churn rate was observed, highlighting the need for proactive retention strategies.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68628" y="4628674"/>
            <a:ext cx="7779544" cy="1420416"/>
          </a:xfrm>
          <a:prstGeom prst="roundRect">
            <a:avLst>
              <a:gd name="adj" fmla="val 7725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45768" y="4628674"/>
            <a:ext cx="91440" cy="1420416"/>
          </a:xfrm>
          <a:prstGeom prst="roundRect">
            <a:avLst>
              <a:gd name="adj" fmla="val 89535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54973" y="484643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At-Risk Presence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454973" y="5251490"/>
            <a:ext cx="727543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significant portion of customers are flagged as at-risk, requiring immediate attention.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68628" y="6216491"/>
            <a:ext cx="7779544" cy="1420416"/>
          </a:xfrm>
          <a:prstGeom prst="roundRect">
            <a:avLst>
              <a:gd name="adj" fmla="val 7725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45768" y="6216491"/>
            <a:ext cx="91440" cy="1420416"/>
          </a:xfrm>
          <a:prstGeom prst="roundRect">
            <a:avLst>
              <a:gd name="adj" fmla="val 89535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454973" y="6434257"/>
            <a:ext cx="4446270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Revenue Varies by Segment &amp; Gender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454973" y="6839307"/>
            <a:ext cx="727543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contribution varies across segments and gender, offering targeting opportunities.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78430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40627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Retain High-Value Customers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Focus resources on retaining Champions and top-revenue segments.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35229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Target At-Risk Customers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Deploy personalized offers and re-engagement campaigns to at-risk segments.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936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Improve Engagement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Strengthen customer engagement strategies to reduce churn over time.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32231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Personalized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segmentation data to drive tailored, personalized marketing campaigns.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9" y="557332"/>
            <a:ext cx="4743212" cy="71149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042" y="645438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Business Impact</a:t>
            </a:r>
            <a:endParaRPr lang="en-US" sz="4250" dirty="0"/>
          </a:p>
        </p:txBody>
      </p:sp>
      <p:sp>
        <p:nvSpPr>
          <p:cNvPr id="5" name="Shape 2"/>
          <p:cNvSpPr/>
          <p:nvPr/>
        </p:nvSpPr>
        <p:spPr>
          <a:xfrm>
            <a:off x="6243042" y="1630204"/>
            <a:ext cx="7630716" cy="5953958"/>
          </a:xfrm>
          <a:prstGeom prst="roundRect">
            <a:avLst>
              <a:gd name="adj" fmla="val 152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50662" y="1637824"/>
            <a:ext cx="7615476" cy="1569125"/>
          </a:xfrm>
          <a:prstGeom prst="roundRect">
            <a:avLst>
              <a:gd name="adj" fmla="val 5787"/>
            </a:avLst>
          </a:prstGeom>
          <a:solidFill>
            <a:srgbClr val="404040"/>
          </a:solidFill>
          <a:ln/>
        </p:spPr>
      </p:sp>
      <p:sp>
        <p:nvSpPr>
          <p:cNvPr id="7" name="Text 4"/>
          <p:cNvSpPr/>
          <p:nvPr/>
        </p:nvSpPr>
        <p:spPr>
          <a:xfrm>
            <a:off x="6466761" y="185392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Reduce Churn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66761" y="2315289"/>
            <a:ext cx="718327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Helps reduce customer churn through early identification of at-risk segments.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50662" y="3206948"/>
            <a:ext cx="7615476" cy="1569125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0" name="Shape 7"/>
          <p:cNvSpPr/>
          <p:nvPr/>
        </p:nvSpPr>
        <p:spPr>
          <a:xfrm>
            <a:off x="6250662" y="3206948"/>
            <a:ext cx="7615476" cy="30480"/>
          </a:xfrm>
          <a:prstGeom prst="roundRect">
            <a:avLst>
              <a:gd name="adj" fmla="val 297907"/>
            </a:avLst>
          </a:prstGeom>
          <a:solidFill>
            <a:srgbClr val="595959"/>
          </a:solidFill>
          <a:ln/>
        </p:spPr>
      </p:sp>
      <p:sp>
        <p:nvSpPr>
          <p:cNvPr id="11" name="Text 8"/>
          <p:cNvSpPr/>
          <p:nvPr/>
        </p:nvSpPr>
        <p:spPr>
          <a:xfrm>
            <a:off x="6466761" y="342304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Improve Retention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66761" y="3884414"/>
            <a:ext cx="718327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Improves customer retention by enabling targeted engagement strategies.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50662" y="4776073"/>
            <a:ext cx="7615476" cy="1569125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4" name="Shape 11"/>
          <p:cNvSpPr/>
          <p:nvPr/>
        </p:nvSpPr>
        <p:spPr>
          <a:xfrm>
            <a:off x="6250662" y="4776073"/>
            <a:ext cx="7615476" cy="30480"/>
          </a:xfrm>
          <a:prstGeom prst="roundRect">
            <a:avLst>
              <a:gd name="adj" fmla="val 297907"/>
            </a:avLst>
          </a:prstGeom>
          <a:solidFill>
            <a:srgbClr val="595959"/>
          </a:solidFill>
          <a:ln/>
        </p:spPr>
      </p:sp>
      <p:sp>
        <p:nvSpPr>
          <p:cNvPr id="15" name="Text 12"/>
          <p:cNvSpPr/>
          <p:nvPr/>
        </p:nvSpPr>
        <p:spPr>
          <a:xfrm>
            <a:off x="6466761" y="499217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Increase Revenue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466761" y="5453539"/>
            <a:ext cx="718327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Increases revenue potential by focusing on high-value customer segments.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50662" y="6345198"/>
            <a:ext cx="7615476" cy="1231344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8" name="Shape 15"/>
          <p:cNvSpPr/>
          <p:nvPr/>
        </p:nvSpPr>
        <p:spPr>
          <a:xfrm>
            <a:off x="6250662" y="6345198"/>
            <a:ext cx="7615476" cy="30480"/>
          </a:xfrm>
          <a:prstGeom prst="roundRect">
            <a:avLst>
              <a:gd name="adj" fmla="val 297907"/>
            </a:avLst>
          </a:prstGeom>
          <a:solidFill>
            <a:srgbClr val="595959"/>
          </a:solidFill>
          <a:ln/>
        </p:spPr>
      </p:sp>
      <p:sp>
        <p:nvSpPr>
          <p:cNvPr id="19" name="Text 16"/>
          <p:cNvSpPr/>
          <p:nvPr/>
        </p:nvSpPr>
        <p:spPr>
          <a:xfrm>
            <a:off x="6466761" y="6561296"/>
            <a:ext cx="293501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Data-Driven Decisions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466761" y="7022663"/>
            <a:ext cx="718327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Enables data-driven decision-making for strategic planning.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1" y="562094"/>
            <a:ext cx="4736783" cy="710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7807" y="669369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</a:t>
            </a:r>
            <a:endParaRPr lang="en-US" sz="4350" dirty="0"/>
          </a:p>
        </p:txBody>
      </p:sp>
      <p:sp>
        <p:nvSpPr>
          <p:cNvPr id="5" name="Shape 2"/>
          <p:cNvSpPr/>
          <p:nvPr/>
        </p:nvSpPr>
        <p:spPr>
          <a:xfrm>
            <a:off x="6267807" y="1696760"/>
            <a:ext cx="502325" cy="502325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89921" y="1773436"/>
            <a:ext cx="326421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Clear Customer Insights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989921" y="2254091"/>
            <a:ext cx="68590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dashboard provides clear, actionable customer insights across all segments.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67807" y="3402330"/>
            <a:ext cx="502325" cy="502325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89921" y="3479006"/>
            <a:ext cx="426350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Opportunities &amp; Risks Identified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6989921" y="3959662"/>
            <a:ext cx="68590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Helps identify both growth opportunities and retention risks in the customer base.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67807" y="5107900"/>
            <a:ext cx="502325" cy="502325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89921" y="5184577"/>
            <a:ext cx="380880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Supports Strategic Planning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6989921" y="5665232"/>
            <a:ext cx="6859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Supports strategic planning with data-driven, segment-level visibility.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6993374" y="6542246"/>
            <a:ext cx="66323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463</Words>
  <Application>Microsoft Office PowerPoint</Application>
  <PresentationFormat>Custom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Funnel Sans</vt:lpstr>
      <vt:lpstr>Arial</vt:lpstr>
      <vt:lpstr>Mona Sans Semi Bold</vt:lpstr>
      <vt:lpstr>Mona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tanvitha juvvadi</dc:creator>
  <cp:lastModifiedBy>tanvitha juvvadi</cp:lastModifiedBy>
  <cp:revision>2</cp:revision>
  <dcterms:created xsi:type="dcterms:W3CDTF">2026-04-14T15:45:51Z</dcterms:created>
  <dcterms:modified xsi:type="dcterms:W3CDTF">2026-04-14T15:47:17Z</dcterms:modified>
</cp:coreProperties>
</file>